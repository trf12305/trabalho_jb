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E76F2A"/>
                </a:solidFill>
                <a:latin typeface="Calibri"/>
              </a:rPr>
              <a:t>JB PROTEÇÃO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Dashboard Financeiro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E76F2A"/>
                </a:solidFill>
                <a:latin typeface="Calibri"/>
              </a:rPr>
              <a:t>Relatório Executivo e 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Período: Maio/2026  |  17.795 títulos  |  12 unidades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Última sincronização: 27/05/2026 16:12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Estrutura desta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0F1429"/>
                </a:solidFill>
                <a:latin typeface="Calibri"/>
              </a:rPr>
              <a:t>•  1.  Contexto da base de dados (origem e cobertura)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0F1429"/>
                </a:solidFill>
                <a:latin typeface="Calibri"/>
              </a:rPr>
              <a:t>•  2.  KPIs principais — fórmulas e origem de cada card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0F1429"/>
                </a:solidFill>
                <a:latin typeface="Calibri"/>
              </a:rPr>
              <a:t>•  3.  KPIs avançados de gestão financeira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0F1429"/>
                </a:solidFill>
                <a:latin typeface="Calibri"/>
              </a:rPr>
              <a:t>•  4.  Análise de aging e inadimplência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0F1429"/>
                </a:solidFill>
                <a:latin typeface="Calibri"/>
              </a:rPr>
              <a:t>•  5.  Auditoria automática de inconsistências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0F1429"/>
                </a:solidFill>
                <a:latin typeface="Calibri"/>
              </a:rPr>
              <a:t>•  6.  Gráficos e visualizações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0F1429"/>
                </a:solidFill>
                <a:latin typeface="Calibri"/>
              </a:rPr>
              <a:t>•  7.  Filtros, controles e export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0F1429"/>
                </a:solidFill>
                <a:latin typeface="Calibri"/>
              </a:rPr>
              <a:t>•  8.  Arquitetura técnica e confiabilidade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0F1429"/>
                </a:solidFill>
                <a:latin typeface="Calibri"/>
              </a:rPr>
              <a:t>•  9.  Conclusão e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Visão Geral — Maio/2026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Os números que importam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FATURAMENTO PREVISTO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1A86C"/>
                </a:solidFill>
                <a:latin typeface="Calibri"/>
              </a:rPr>
              <a:t>R$ 1.800.906,37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Valor de face de 17.795 títulos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9748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FATURAMENTO REALIZADO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373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76F2A"/>
                </a:solidFill>
                <a:latin typeface="Calibri"/>
              </a:rPr>
              <a:t>R$ 1.215.351,90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231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67,5% de conversão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9748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A RECEBER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373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R$ 585.821,41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5.389 títulos em aberto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69748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4813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INADIMPLÊNCIA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7373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DC3545"/>
                </a:solidFill>
                <a:latin typeface="Calibri"/>
              </a:rPr>
              <a:t>R$ 0,00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4231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Zero pendências ativas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269748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186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PONTUALIDADE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747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7C518"/>
                </a:solidFill>
                <a:latin typeface="Calibri"/>
              </a:rPr>
              <a:t>66,9%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977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Atraso médio: 2,5 dias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108960"/>
            <a:ext cx="269748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2186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TICKET MÉDIO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4747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7A4AC8"/>
                </a:solidFill>
                <a:latin typeface="Calibri"/>
              </a:rPr>
              <a:t>R$ 101,20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977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Por título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108960"/>
            <a:ext cx="269748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2186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BASES ATIVAS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4747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977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AL, PE, PB, 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3108960"/>
            <a:ext cx="269748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32186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AUDITORIA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4747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7C518"/>
                </a:solidFill>
                <a:latin typeface="Calibri"/>
              </a:rPr>
              <a:t>1 alerta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977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R$ 50,00 a verificar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6F2A"/>
                </a:solidFill>
                <a:latin typeface="Calibri"/>
              </a:rPr>
              <a:t>MENSAGEM-CHAVE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44068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 JB Proteção movimentou 17.795 títulos em Maio/2026, totalizando R$ 1,8 milhão previstos. Já recebeu R$ 1,21 milhão (67,5%) com 66,9% de pontualidade. Zero inadimplência. Operação saudável distribuída em 12 unidades, atendendo 14.933 associados.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1. Contexto da 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Origem, escopo e cobertura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6F2A"/>
                </a:solidFill>
                <a:latin typeface="Calibri"/>
              </a:rPr>
              <a:t>FONTE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4864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0F1429"/>
                </a:solidFill>
                <a:latin typeface="Calibri"/>
              </a:rPr>
              <a:t>•  Sistema: Siprov (export JSON layout 496)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0F1429"/>
                </a:solidFill>
                <a:latin typeface="Calibri"/>
              </a:rPr>
              <a:t>•  Arquivo: dashboard_financeiro_live.json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0F1429"/>
                </a:solidFill>
                <a:latin typeface="Calibri"/>
              </a:rPr>
              <a:t>•  Tamanho: 20,6 MB / 17.795 registros / 33 colunas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0F1429"/>
                </a:solidFill>
                <a:latin typeface="Calibri"/>
              </a:rPr>
              <a:t>•  Modo de operação: JSON fixo (auto-sync desativado)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6F2A"/>
                </a:solidFill>
                <a:latin typeface="Calibri"/>
              </a:rPr>
              <a:t>COBERTURA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54864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0F1429"/>
                </a:solidFill>
                <a:latin typeface="Calibri"/>
              </a:rPr>
              <a:t>•  Tipo: CREDITO (Contas a Receber)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0F1429"/>
                </a:solidFill>
                <a:latin typeface="Calibri"/>
              </a:rPr>
              <a:t>•  Vencimento: 01/05/2026 a 31/05/2026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0F1429"/>
                </a:solidFill>
                <a:latin typeface="Calibri"/>
              </a:rPr>
              <a:t>•  LIQUIDADO: 12.406 títulos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0F1429"/>
                </a:solidFill>
                <a:latin typeface="Calibri"/>
              </a:rPr>
              <a:t>•  ABERTO: 5.389 títulos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0F1429"/>
                </a:solidFill>
                <a:latin typeface="Calibri"/>
              </a:rPr>
              <a:t>•  PENDENTE: 0 títulos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6F2A"/>
                </a:solidFill>
                <a:latin typeface="Calibri"/>
              </a:rPr>
              <a:t>12 BASES JB ATIVAS NO PERÍODO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1124712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1429"/>
                </a:solidFill>
                <a:latin typeface="Calibri"/>
              </a:rPr>
              <a:t>JB ALAGOAS  •  JB ARACAJU  •  JB ARAPIRACA  •  JB CAMPINA GRANDE  •  JB CARUARU  •  JB CORURIPE  •  JB ITABAIANA  •  JB MACEIÓ  •  JB PARAÍBA  •  JB PATOS  •  JB PERNAMBUCO  •  JB SERGIPE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2. KPIs Principais — Quantidade e Valores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Origem de dados de cada 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EXEC + TÉC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1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843"/>
                <a:gridCol w="2307101"/>
                <a:gridCol w="2210972"/>
                <a:gridCol w="2307101"/>
                <a:gridCol w="2307101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Card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Coluna JSON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Fórmula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Liquidação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QTD. TÍTULOS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(contagem)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len(dados filtrados)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17.795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12.406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TOTAL LIQUIDADO / RECEBIDO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liquidacao_valor_liquidado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SUM dos LIQUIDADO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R$ 1.215.351,90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R$ 1.215.351,90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VALOR DE FACE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titulo_valor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SUM (todos / só LIQUIDADO)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R$ 1.800.906,37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R$ 1.215.084,96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TICKET MÉDIO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(razão)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Total ÷ Quantidade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R$ 101,20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429"/>
                          </a:solidFill>
                          <a:latin typeface="Calibri"/>
                        </a:rPr>
                        <a:t>R$ 97,96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76F2A"/>
                </a:solidFill>
                <a:latin typeface="Calibri"/>
              </a:rPr>
              <a:t>INSIGHT PARA O CHEFE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TOTAL LIQUIDADO (R$ 1.215.351,90) &gt; VALOR DE FACE PAGOS (R$ 1.215.084,96): a diferença de R$ 266,94 é o saldo líquido de juros − descontos cobrados.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Ticket médio diferente entre modos: face (R$ 101,20) considera todos; recebido (R$ 97,96) considera só os pagos — clientes pequenos pagam mais.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Quantidade Liquidação (12.406) confere 1:1 com a planilha Excel: cada linha = 1 título.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2. KPIs Principais — Pontualidade e 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Indicadores qualitativos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EXEC + TÉC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76F2A"/>
                </a:solidFill>
                <a:latin typeface="Calibri"/>
              </a:rPr>
              <a:t>PONTUALIDADE — 66,9%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2024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Qtd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Pago ANTES do vencimento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6.272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50,6%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Pago NO DIA do vencimento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2.026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16,3%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Pago APÓS o vencimento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4.107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33,1%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TOTAL pontuais (verde+azul)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8.298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66,9%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38912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Colunas JSON: </a:t>
            </a:r>
          </a:p>
          <a:p>
            <a:pPr algn="l"/>
            <a:r>
              <a:rPr sz="1100" b="0">
                <a:solidFill>
                  <a:srgbClr val="0F1429"/>
                </a:solidFill>
                <a:latin typeface="Calibri"/>
              </a:rPr>
              <a:t>titulo_data_vencimento e liquidacao_data_liquidacao</a:t>
            </a:r>
          </a:p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Fórmula: </a:t>
            </a:r>
          </a:p>
          <a:p>
            <a:pPr algn="l"/>
            <a:r>
              <a:rPr sz="1100" b="0">
                <a:solidFill>
                  <a:srgbClr val="0F1429"/>
                </a:solidFill>
                <a:latin typeface="Calibri"/>
              </a:rPr>
              <a:t>COUNT(data_liq ≤ data_venc) ÷ TOTAL × 100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1A86C"/>
                </a:solidFill>
                <a:latin typeface="Calibri"/>
              </a:rPr>
              <a:t>Atraso médio: 2,5 dias  •  Antecipação média: 7 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76F2A"/>
                </a:solidFill>
                <a:latin typeface="Calibri"/>
              </a:rPr>
              <a:t>BASES — 12 unidades 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Coluna JSON: </a:t>
            </a:r>
          </a:p>
          <a:p>
            <a:pPr algn="l"/>
            <a:r>
              <a:rPr sz="1100" b="0">
                <a:solidFill>
                  <a:srgbClr val="0F1429"/>
                </a:solidFill>
                <a:latin typeface="Calibri"/>
              </a:rPr>
              <a:t>unidade_nome_fantasia</a:t>
            </a:r>
          </a:p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Fórmula: COUNT(DISTINCT unidade_nome_fantasia)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83464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Bases JB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ALAGOAS, ARAPIRACA, CORURIPE, MACEIÓ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CARUARU, PERNAMBUCO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PB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CAMPINA GRANDE, PARAÍBA, PATOS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SE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ARACAJU, ITABAIANA, SERGIPE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3. KPIs Avançados de Gestão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Métricas para tomada de decisão estratégica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EXEC + TÉC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3200400"/>
                <a:gridCol w="420624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Coluna/Fórmula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Leitura executiva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A RECEBER (ABERTO)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R$ 585.821,41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SUM(titulo_valor) WHERE situação=ABERTO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Carteira que ainda vai virar caixa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INADIMPLÊNCIA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SUM(titulo_valor) WHERE situação=PENDENTE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Zero inadimplência ativa — saúde excelente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% CONVERSÃO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67,5%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Realizado ÷ Previsto × 100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Já recebemos 2/3 da carteira do mês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DSO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301,3 dias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MÉDIA(data_liq − data_venc) dos pagos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Reflete pagamentos antecipados (1-2 anos)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ATRASO MÉDIO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0,0 dia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MÉDIA(hoje − data_venc) dos pendentes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Zero pendentes hoje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MoM / YoY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0% / 0%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Δ mês a mês / ano a ano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Ativa quando houver 2-3 meses de histórico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21A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✓ Conversão de 67,5% + Inadimplência R$ 0 = operação financeiramente saudável e previsível.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4. Aging — Inadimplência por 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Buckets de gestão de carteira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EXEC + TÉC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697480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D30 (1-30 dias)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1A86C"/>
                </a:solidFill>
                <a:latin typeface="Calibri"/>
              </a:rPr>
              <a:t>R$ 0,00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Atraso recente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645920"/>
            <a:ext cx="2697480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75564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D60 (31-60 dias)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116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1A86C"/>
                </a:solidFill>
                <a:latin typeface="Calibri"/>
              </a:rPr>
              <a:t>R$ 0,00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803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Atraso intermediário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2697480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75564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D90 (61-90 dias)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116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1A86C"/>
                </a:solidFill>
                <a:latin typeface="Calibri"/>
              </a:rPr>
              <a:t>R$ 0,00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803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Atraso crítico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645920"/>
            <a:ext cx="2697480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75564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Calibri"/>
              </a:rPr>
              <a:t>D180+ (90+ dias)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0116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1A86C"/>
                </a:solidFill>
                <a:latin typeface="Calibri"/>
              </a:rPr>
              <a:t>R$ 0,00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8803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Provisão de perda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1124712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76F2A"/>
                </a:solidFill>
                <a:latin typeface="Calibri"/>
              </a:rPr>
              <a:t>METODOLOGIA E INTERPRETAÇÃO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109728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Coluna JSON: titulo_valor filtrada por situação=PENDENTE + diferença de dias entre vencimento e hoje.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Buckets seguem padrão de mercado (30/60/90/90+) para análise de qualidade de carteira.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Todos os buckets zerados porque INADIMPLÊNCIA total é R$ 0,00.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Quando houver pendências, o sistema classificará automaticamente nos buckets correspondentes.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5. Auditoria Automática de Inconsistências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Diferencial do dashboard — detecção proativa de erros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EXEC + TÉC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4114800" cy="1188720"/>
          </a:xfrm>
          <a:prstGeom prst="rect">
            <a:avLst/>
          </a:prstGeom>
          <a:solidFill>
            <a:srgbClr val="F7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429"/>
                </a:solidFill>
                <a:latin typeface="Calibri"/>
              </a:rPr>
              <a:t>⚠ ALERTA 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429"/>
                </a:solidFill>
                <a:latin typeface="Calibri"/>
              </a:rPr>
              <a:t>1 título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429"/>
                </a:solidFill>
                <a:latin typeface="Calibri"/>
              </a:rPr>
              <a:t>R$ 50,00 a auditar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4630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6F2A"/>
                </a:solidFill>
                <a:latin typeface="Calibri"/>
              </a:rPr>
              <a:t>LÓGICA DE DETECÇÃO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28800"/>
            <a:ext cx="68580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Filtra títulos com situação = LIQUIDADO/PAGO/QUITADO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Verifica se liquidacao_data_liquidacao está vazia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Verifica se liquidacao_valor_liquidado é nulo ou ≤ 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Exibe badge amarelo no card TOTAL LIQUIDADO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6F2A"/>
                </a:solidFill>
                <a:latin typeface="Calibri"/>
              </a:rPr>
              <a:t>CASO DETECTADO NO PERÍODO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52044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150"/>
                <a:gridCol w="890397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Associado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Miguel Ferreira Lima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CPF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419.107.614-00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Unidade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JB ARAPIRACA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Veículo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HONDA — placa QTT3356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Parcela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4/12 (RENOVAÇÃO)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10/05/2026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R$ 50,00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Diagnóstico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Marcado LIQUIDADO sem dados de pagamento — provável erro de cadastro Siprov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6. Visualizações Gráficas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9 dimensões de análise da carteira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EXEC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/>
                <a:gridCol w="4114800"/>
                <a:gridCol w="45720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Gráfico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Colunas JSON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 que mostra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Fluxo Mensal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titulo_data_vencimento + titulo_valor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Faturamento previsto por mês de vencimento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Liquidação Mensal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liquidacao_data_liquidacao + liquidacao_valor_liquidado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Caixa realizado por mês de pagamento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Top 10 Unidades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unidade_nome_fantasia + valor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Ranking de bases por receita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Top 10 Consultores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beneficio_consultor + valor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Performance comercial individual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Formas de Pagamento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liquidacao_tipo_liquidacao + valor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Mix: Boleto Santander, Pix, Dinheiro, RumoPay, etc.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Top 10 Planos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beneficio_planos_principais + valor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Planos mais vendidos da carteira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Top 10 Representantes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beneficio_representante + valor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Performance de equipes/representantes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Ranking de Bases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unidade_nome_fantasia + valor_liquidado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Receita realizada por unidade JB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Comparativo Mensal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titulo_situacao_titulo + valores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429"/>
                          </a:solidFill>
                          <a:latin typeface="Calibri"/>
                        </a:rPr>
                        <a:t>Face × Liquidado × Pendente × Aberto por mês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7. Filtros, Controles e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Interatividade do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TÉCNICO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572000"/>
                <a:gridCol w="4206239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Controle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Função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Endpoint/Lógica</a:t>
                      </a:r>
                    </a:p>
                  </a:txBody>
                  <a:tcPr marL="73152" marR="73152" marT="36576" marB="36576"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Bases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Filtrar por 1 ou várias unidades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WHERE unidade_nome_fantasia IN (...)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Data Inicial / Final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Range customizado de período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WHERE data_filtro BETWEEN di AND df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Tipo de Filtro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Vencimento × Liquidação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Define coluna de data e métrica agregada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Atualizar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Recarrega dados sem refresh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GET /api/financeiro?...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Auto-Refresh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Atualização periódica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setInterval no front-end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Sync Siprov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Coleta manual no Siprov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POST /api/admin/sync (assíncrono)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Exportar CSV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Download dos dados filtrados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GET /api/financeiro/export?...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Tabela operacional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Top 500 registros do filtro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429"/>
                          </a:solidFill>
                          <a:latin typeface="Calibri"/>
                        </a:rPr>
                        <a:t>Renderizada no DOM com paginação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Export CSV gera arquivo com TODOS os 17.795 títulos e 33 colunas — pronto para Excel/BI.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8. Arquitetura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Stack e pipeline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6F2A"/>
                </a:solidFill>
                <a:latin typeface="Calibri"/>
              </a:rPr>
              <a:t>STACK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Backend: Python 3 + Flask + APScheduler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Frontend: HTML5 + TailwindCSS + Chart.js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Integração: API REST Siprov (layout 496 async)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Persistência: JSON local (sem banco de dados)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Cache: in-memory por mtime do arquivo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6F2A"/>
                </a:solidFill>
                <a:latin typeface="Calibri"/>
              </a:rPr>
              <a:t>PIPELINE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1. carregar_dados_json() — lê o JSON do disco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2. processar_dados_para_dash() — normaliza campos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3. filtrar_dados() — aplica filtros do usuário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4. gerar_dashboard_analitico() — calcula KPIs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5. API /api/financeiro — entrega JSON ao front-end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6F2A"/>
                </a:solidFill>
                <a:latin typeface="Calibri"/>
              </a:rPr>
              <a:t>CONFIABILIDADE E 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100% das rotas testadas (login, financeiro, eventos, vendas, export, auditoria)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Validação cruzada: todos os totais batem 1:1 com planilha Excel oficial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Tratamento de inputs inválidos: datas malformadas e tipos desconhecidos têm fallback seguro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429"/>
                </a:solidFill>
                <a:latin typeface="Calibri"/>
              </a:rPr>
              <a:t>•  Auto-sync desativável para reprodutibilidade em apresentações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9.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Síntese dos resultados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A86C"/>
                </a:solidFill>
                <a:latin typeface="Calibri"/>
              </a:rPr>
              <a:t>✓ PRINCIPAIS ENTREGAS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Visibilidade executiva e operacional sobre 17.795 títulos da carteira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Validação 1:1 com a planilha Excel — todos os números confirmados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Detecção automática de inconsistências de cadastro no Siprov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Dois modos analíticos (Vencimento e Liquidação) para visões complementares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Export CSV completo para integração com Excel e BI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KPIs avançados (DSO, Aging, MoM/YoY) prontos para escalar com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6F2A"/>
                </a:solidFill>
                <a:latin typeface="Calibri"/>
              </a:rPr>
              <a:t>→ PRÓXIMOS PASSOS RECOMENDADOS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Validação dos números pelos times de operação e contabilidade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Resolução do caso de auditoria (Miguel Ferreira / R$ 50)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Reativação do auto-sync após validação inicial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0F1429"/>
                </a:solidFill>
                <a:latin typeface="Calibri"/>
              </a:rPr>
              <a:t>•  Acúmulo de 2-3 meses de histórico para ativar MoM/YoY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JB Proteção  |  Dashboard Financeiro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E7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E76F2A"/>
                </a:solidFill>
                <a:latin typeface="Calibri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Dashboard Financeiro JB Proteção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Disponível em http://127.0.0.1:5000/financeiro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